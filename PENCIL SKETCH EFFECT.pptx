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8" r:id="rId6"/>
    <p:sldId id="280" r:id="rId7"/>
    <p:sldId id="281" r:id="rId8"/>
    <p:sldId id="282" r:id="rId9"/>
    <p:sldId id="286" r:id="rId10"/>
    <p:sldId id="283" r:id="rId11"/>
    <p:sldId id="287" r:id="rId12"/>
    <p:sldId id="284" r:id="rId13"/>
    <p:sldId id="285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655" autoAdjust="0"/>
  </p:normalViewPr>
  <p:slideViewPr>
    <p:cSldViewPr snapToGrid="0">
      <p:cViewPr varScale="1">
        <p:scale>
          <a:sx n="80" d="100"/>
          <a:sy n="80" d="100"/>
        </p:scale>
        <p:origin x="691" y="6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FF775-CA08-D3F3-21DE-75625736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67609-7BB0-E709-7656-0DDA10870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AC3FD-F095-378C-2C47-793EAA1AF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08144-548E-502E-15D7-68763CE03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383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EE45-226B-4BDC-46CF-A6DDFCFD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FB80E-9F07-298E-A986-1B2746D04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2C4CB-1C79-257A-83B5-60988F3D3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D9AA6-AEDC-0C4D-D22E-A206521AF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86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F9651-359F-E7A2-AF06-023D799A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07573-4AFE-F5F6-4018-1ED15D17A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2596D-531E-D539-022C-5779EAD4B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1DED-48FF-DD81-59DE-9CA7D9C94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18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DABF-9970-6CE2-141F-228F1917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107D5-D211-3F36-0030-0D24E32AE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9D6D4-7B5F-D849-89B3-6D3B969AB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3E290-74BE-A999-27B9-96FE6EEBD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06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5F97-6B51-663E-266A-C1463387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D9D1B-67B7-5F23-CD5E-19C725F4E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030F3-FF98-CFAD-4CB3-D7671BDA4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C367B-8D18-339B-1BC6-BD4379274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951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D279-38BC-90F3-D6C3-02C2DF2E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FE6C0-21D2-9B9B-845F-8C7303762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ACBE9-3575-8ED7-20F4-637C1EF2D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8A98B-249D-039B-9FC2-1CD39F76F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694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7B8A-FF8A-E81E-55CE-D6091B3D1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D04A6-2CC2-6AA3-C77D-E45AA25B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CB59F-B306-2993-6A12-435EB6105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3F962-E88F-0D2F-050F-772DEF72C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89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FD4B-0020-76E5-72D6-2ED51A05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996C2-40C5-3C20-E36C-BB74973DD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E88C2-D507-C81E-A31D-E9E9E619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54E34-D41D-5ADC-3C95-C2A66D0D0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0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3CC57-85F3-F51D-FC3A-FF5B3A1E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2E10A-329D-928F-5C9F-3D349A2EE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38FDA-CEBE-5357-84A4-C948BEBDB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2AFF5-45D1-B99A-BF11-E07939DC5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778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A5044-08C4-51FF-8FC0-E05F2A7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58C32-11D0-35C0-75F2-9D48CAD15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892C1-6E7E-1650-18C6-1AF17AFDB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2C9A3-83F7-950C-ABB0-5300B0FFB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468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8613-8F70-3F29-A839-3FCB912A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710AE-AA75-6E24-D6E5-05CC25030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BF3FA-DD68-239E-5FC4-08000084D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51C4-D26E-F745-64F2-1032B77EB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60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16D1-435B-02AC-C976-93917ADA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B00EA-2EC3-C2AD-B80E-0FDADDCF0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328C2-4145-62BE-ACAD-6DEE2A0D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7FD79-4F2F-B07B-06CD-A82710EB1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604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DB0D-52D5-34BE-749D-BA711983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15790-9B40-47AD-3C46-8C621FF41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4EC30-CC80-2BC7-E9BA-B37FAF7D6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52303-970B-6A8D-C46A-073D296A3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02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8494" y="2793075"/>
            <a:ext cx="5237019" cy="3183775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b="1" dirty="0"/>
              <a:t>PENCIL SKETCH EFFECT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Digital Images into                          Artistic Sketches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DONE by:</a:t>
            </a:r>
            <a:br>
              <a:rPr lang="en-US" sz="2000" dirty="0"/>
            </a:br>
            <a:r>
              <a:rPr lang="en-US" sz="2000" dirty="0"/>
              <a:t>                 BHARGOW N – E0322046</a:t>
            </a:r>
            <a:br>
              <a:rPr lang="en-US" sz="2000" dirty="0"/>
            </a:br>
            <a:r>
              <a:rPr lang="en-US" sz="2000" dirty="0"/>
              <a:t>                 RISHITHA T – E0322026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93" y="687871"/>
            <a:ext cx="7288282" cy="943122"/>
          </a:xfrm>
        </p:spPr>
        <p:txBody>
          <a:bodyPr>
            <a:normAutofit/>
          </a:bodyPr>
          <a:lstStyle/>
          <a:p>
            <a:r>
              <a:rPr lang="en-US" sz="3400" b="1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0393" y="2239203"/>
            <a:ext cx="8497887" cy="3407051"/>
          </a:xfrm>
        </p:spPr>
        <p:txBody>
          <a:bodyPr>
            <a:noAutofit/>
          </a:bodyPr>
          <a:lstStyle/>
          <a:p>
            <a:r>
              <a:rPr lang="en-IN" sz="2200" dirty="0"/>
              <a:t>What is Pencil Sketch Effect?</a:t>
            </a:r>
          </a:p>
          <a:p>
            <a:r>
              <a:rPr lang="en-IN" sz="2200" b="0" dirty="0"/>
              <a:t>A computer vision application that converts regular photographs into pencil sketch-style artwork using image processing techniques.</a:t>
            </a:r>
          </a:p>
          <a:p>
            <a:r>
              <a:rPr lang="en-IN" sz="2200" b="0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0" dirty="0"/>
              <a:t>Grayscale pencil sketch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0" dirty="0" err="1"/>
              <a:t>Colored</a:t>
            </a:r>
            <a:r>
              <a:rPr lang="en-IN" sz="2200" b="0" dirty="0"/>
              <a:t> pencil sketch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0" dirty="0"/>
              <a:t>Real-time webcam sketch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0" dirty="0"/>
              <a:t>Save and export functionality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2225" y="691168"/>
            <a:ext cx="4929101" cy="880102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333B6-7C9A-BF5E-1F3F-E742061ECC6D}"/>
              </a:ext>
            </a:extLst>
          </p:cNvPr>
          <p:cNvSpPr txBox="1"/>
          <p:nvPr/>
        </p:nvSpPr>
        <p:spPr>
          <a:xfrm>
            <a:off x="6372225" y="1990725"/>
            <a:ext cx="54578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Programming Language: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Python 3.x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Libraries: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OpenCV (cv2)</a:t>
            </a:r>
            <a:r>
              <a:rPr lang="en-IN" dirty="0">
                <a:solidFill>
                  <a:schemeClr val="bg1"/>
                </a:solidFill>
              </a:rPr>
              <a:t> - Image processing and computer vision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NumPy</a:t>
            </a:r>
            <a:r>
              <a:rPr lang="en-IN" dirty="0">
                <a:solidFill>
                  <a:schemeClr val="bg1"/>
                </a:solidFill>
              </a:rPr>
              <a:t> - Numerical computations and array manipulation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Hardware Requirements: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Webcam (optional, for real-time feature)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Standard computer with Python support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>
            <a:normAutofit/>
          </a:bodyPr>
          <a:lstStyle/>
          <a:p>
            <a:r>
              <a:rPr lang="en-US" sz="3800" b="1" dirty="0"/>
              <a:t>CORE CONCEPTS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699" y="2914650"/>
            <a:ext cx="7591426" cy="2781300"/>
          </a:xfrm>
        </p:spPr>
        <p:txBody>
          <a:bodyPr>
            <a:normAutofit/>
          </a:bodyPr>
          <a:lstStyle/>
          <a:p>
            <a:r>
              <a:rPr lang="en-IN" sz="2200" b="1" dirty="0"/>
              <a:t>Image Processing Techniques:</a:t>
            </a:r>
            <a:endParaRPr lang="en-IN" sz="2200" dirty="0"/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Grayscale Conversion</a:t>
            </a:r>
            <a:r>
              <a:rPr lang="en-IN" sz="2200" dirty="0"/>
              <a:t> - Reducing </a:t>
            </a:r>
            <a:r>
              <a:rPr lang="en-IN" sz="2200" dirty="0" err="1"/>
              <a:t>color</a:t>
            </a:r>
            <a:r>
              <a:rPr lang="en-IN" sz="2200" dirty="0"/>
              <a:t> complexity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Image Inversion</a:t>
            </a:r>
            <a:r>
              <a:rPr lang="en-IN" sz="2200" dirty="0"/>
              <a:t> - Creating negative images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Gaussian Blur</a:t>
            </a:r>
            <a:r>
              <a:rPr lang="en-IN" sz="2200" dirty="0"/>
              <a:t> - Smoothing and softening edges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Image Division</a:t>
            </a:r>
            <a:r>
              <a:rPr lang="en-IN" sz="2200" dirty="0"/>
              <a:t> - Dodge blend technique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 err="1"/>
              <a:t>Color</a:t>
            </a:r>
            <a:r>
              <a:rPr lang="en-IN" sz="2200" b="1" dirty="0"/>
              <a:t> Space Manipulation</a:t>
            </a:r>
            <a:r>
              <a:rPr lang="en-IN" sz="2200" dirty="0"/>
              <a:t> - BGR to Gray conversions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44" y="781050"/>
            <a:ext cx="7450455" cy="863286"/>
          </a:xfrm>
        </p:spPr>
        <p:txBody>
          <a:bodyPr>
            <a:noAutofit/>
          </a:bodyPr>
          <a:lstStyle/>
          <a:p>
            <a:r>
              <a:rPr lang="en-US" sz="3400" b="1" dirty="0"/>
              <a:t>ALGORITHM – GRAYSCALE SKETCH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036319" y="2152650"/>
            <a:ext cx="7831455" cy="3784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Step-by-Step Process:</a:t>
            </a:r>
            <a:endParaRPr lang="en-IN" sz="2000" dirty="0"/>
          </a:p>
          <a:p>
            <a:r>
              <a:rPr lang="en-IN" sz="2000" b="1" dirty="0"/>
              <a:t>Load Image</a:t>
            </a:r>
            <a:r>
              <a:rPr lang="en-IN" sz="2000" dirty="0"/>
              <a:t> - Read input image using OpenCV</a:t>
            </a:r>
          </a:p>
          <a:p>
            <a:r>
              <a:rPr lang="en-IN" sz="2000" b="1" dirty="0"/>
              <a:t>Convert to Grayscale</a:t>
            </a:r>
            <a:r>
              <a:rPr lang="en-IN" sz="2000" dirty="0"/>
              <a:t> - Remove </a:t>
            </a:r>
            <a:r>
              <a:rPr lang="en-IN" sz="2000" dirty="0" err="1"/>
              <a:t>color</a:t>
            </a:r>
            <a:r>
              <a:rPr lang="en-IN" sz="2000" dirty="0"/>
              <a:t> information</a:t>
            </a:r>
          </a:p>
          <a:p>
            <a:r>
              <a:rPr lang="en-IN" sz="2000" b="1" dirty="0"/>
              <a:t>Invert Grayscale</a:t>
            </a:r>
            <a:r>
              <a:rPr lang="en-IN" sz="2000" dirty="0"/>
              <a:t> - Create negative image</a:t>
            </a:r>
          </a:p>
          <a:p>
            <a:r>
              <a:rPr lang="en-IN" sz="2000" b="1" dirty="0"/>
              <a:t>Apply Gaussian Blur</a:t>
            </a:r>
            <a:r>
              <a:rPr lang="en-IN" sz="2000" dirty="0"/>
              <a:t> - Blur the inverted image (21x21 kernel)</a:t>
            </a:r>
          </a:p>
          <a:p>
            <a:r>
              <a:rPr lang="en-IN" sz="2000" b="1" dirty="0"/>
              <a:t>Invert Blurred Image</a:t>
            </a:r>
            <a:r>
              <a:rPr lang="en-IN" sz="2000" dirty="0"/>
              <a:t> - Create second inversion</a:t>
            </a:r>
          </a:p>
          <a:p>
            <a:r>
              <a:rPr lang="en-IN" sz="2000" b="1" dirty="0"/>
              <a:t>Divide Images</a:t>
            </a:r>
            <a:r>
              <a:rPr lang="en-IN" sz="2000" dirty="0"/>
              <a:t> - Gray image ÷ Inverted blurred image</a:t>
            </a:r>
          </a:p>
          <a:p>
            <a:r>
              <a:rPr lang="en-IN" sz="2000" b="1" dirty="0"/>
              <a:t>Scale Result</a:t>
            </a:r>
            <a:r>
              <a:rPr lang="en-IN" sz="2000" dirty="0"/>
              <a:t> - Multiply by 256 for proper intensity</a:t>
            </a:r>
          </a:p>
          <a:p>
            <a:r>
              <a:rPr lang="en-IN" sz="2000" b="1" dirty="0"/>
              <a:t>Result:</a:t>
            </a:r>
            <a:r>
              <a:rPr lang="en-IN" sz="2000" dirty="0"/>
              <a:t> Realistic pencil sketch appearance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3A7C-0375-5DF8-56A7-5B6105A9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0290-8F53-7FE2-CD48-CCB17347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44" y="781050"/>
            <a:ext cx="7450455" cy="863286"/>
          </a:xfrm>
        </p:spPr>
        <p:txBody>
          <a:bodyPr>
            <a:noAutofit/>
          </a:bodyPr>
          <a:lstStyle/>
          <a:p>
            <a:r>
              <a:rPr lang="en-US" sz="3400" b="1" dirty="0"/>
              <a:t>ALGORITHM – COLORED SKETCH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7C050F24-3FAB-66A3-17A5-D63BF9EFA4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9BB56-9482-BFC0-13C2-19D966A3B93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50544" y="1949451"/>
            <a:ext cx="8764906" cy="4127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Using OpenCV's Built-in Function:</a:t>
            </a:r>
          </a:p>
          <a:p>
            <a:pPr marL="0" indent="0">
              <a:buNone/>
            </a:pPr>
            <a:r>
              <a:rPr lang="pt-BR" sz="2200" dirty="0"/>
              <a:t>cv2.pencilSketch(image, sigma_s, sigma_r, shade_factor)</a:t>
            </a:r>
            <a:endParaRPr lang="en-IN" sz="2200" b="1" dirty="0"/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IN" sz="2200" b="1" dirty="0"/>
              <a:t>Parameters:</a:t>
            </a:r>
            <a:endParaRPr lang="en-IN" sz="2200" dirty="0"/>
          </a:p>
          <a:p>
            <a:r>
              <a:rPr lang="en-IN" sz="2200" b="1" dirty="0" err="1"/>
              <a:t>sigma_s</a:t>
            </a:r>
            <a:r>
              <a:rPr lang="en-IN" sz="2200" b="1" dirty="0"/>
              <a:t> (60)</a:t>
            </a:r>
            <a:r>
              <a:rPr lang="en-IN" sz="2200" dirty="0"/>
              <a:t> - Spatial window size, controls smoothness</a:t>
            </a:r>
          </a:p>
          <a:p>
            <a:r>
              <a:rPr lang="en-IN" sz="2200" b="1" dirty="0" err="1"/>
              <a:t>sigma_r</a:t>
            </a:r>
            <a:r>
              <a:rPr lang="en-IN" sz="2200" b="1" dirty="0"/>
              <a:t> (0.07)</a:t>
            </a:r>
            <a:r>
              <a:rPr lang="en-IN" sz="2200" dirty="0"/>
              <a:t> - Range window size, controls </a:t>
            </a:r>
            <a:r>
              <a:rPr lang="en-IN" sz="2200" dirty="0" err="1"/>
              <a:t>color</a:t>
            </a:r>
            <a:r>
              <a:rPr lang="en-IN" sz="2200" dirty="0"/>
              <a:t> preservation</a:t>
            </a:r>
          </a:p>
          <a:p>
            <a:r>
              <a:rPr lang="en-IN" sz="2200" b="1" dirty="0" err="1"/>
              <a:t>shade_factor</a:t>
            </a:r>
            <a:r>
              <a:rPr lang="en-IN" sz="2200" b="1" dirty="0"/>
              <a:t> (0.05)</a:t>
            </a:r>
            <a:r>
              <a:rPr lang="en-IN" sz="2200" dirty="0"/>
              <a:t> - Controls shading intensity</a:t>
            </a:r>
          </a:p>
          <a:p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Output:</a:t>
            </a:r>
            <a:r>
              <a:rPr lang="en-IN" sz="2200" dirty="0"/>
              <a:t> Both grayscale and </a:t>
            </a:r>
            <a:r>
              <a:rPr lang="en-IN" sz="2200" dirty="0" err="1"/>
              <a:t>colored</a:t>
            </a:r>
            <a:r>
              <a:rPr lang="en-IN" sz="2200" dirty="0"/>
              <a:t> sketch versions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41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725" y="495300"/>
            <a:ext cx="7486650" cy="1076325"/>
          </a:xfrm>
        </p:spPr>
        <p:txBody>
          <a:bodyPr>
            <a:noAutofit/>
          </a:bodyPr>
          <a:lstStyle/>
          <a:p>
            <a:r>
              <a:rPr lang="en-US" sz="3600" b="1" dirty="0"/>
              <a:t>FEATURES – IMAGE CONVERSION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062162" y="1685925"/>
            <a:ext cx="8662988" cy="4676775"/>
          </a:xfrm>
        </p:spPr>
        <p:txBody>
          <a:bodyPr>
            <a:normAutofit fontScale="92500" lnSpcReduction="10000"/>
          </a:bodyPr>
          <a:lstStyle/>
          <a:p>
            <a:r>
              <a:rPr lang="en-IN" sz="2000" b="1" dirty="0"/>
              <a:t>Static Image Processing:</a:t>
            </a:r>
            <a:endParaRPr lang="en-IN" sz="2000" dirty="0"/>
          </a:p>
          <a:p>
            <a:r>
              <a:rPr lang="en-IN" sz="2000" dirty="0"/>
              <a:t>✓ Load images from any path </a:t>
            </a:r>
          </a:p>
          <a:p>
            <a:r>
              <a:rPr lang="en-IN" sz="2000" dirty="0"/>
              <a:t>✓ Support for multiple formats (JPG, PNG, BMP, TIFF) </a:t>
            </a:r>
          </a:p>
          <a:p>
            <a:r>
              <a:rPr lang="en-IN" sz="2000" dirty="0"/>
              <a:t>✓ Side-by-side comparison view </a:t>
            </a:r>
          </a:p>
          <a:p>
            <a:r>
              <a:rPr lang="en-IN" sz="2000" dirty="0"/>
              <a:t>✓ Optional save functionality </a:t>
            </a:r>
          </a:p>
          <a:p>
            <a:r>
              <a:rPr lang="en-IN" sz="2000" dirty="0"/>
              <a:t>✓ Automatic file extension handling </a:t>
            </a:r>
          </a:p>
          <a:p>
            <a:r>
              <a:rPr lang="en-IN" sz="2000" dirty="0"/>
              <a:t>✓ High-quality output preservation</a:t>
            </a:r>
          </a:p>
          <a:p>
            <a:endParaRPr lang="en-IN" sz="2000" dirty="0"/>
          </a:p>
          <a:p>
            <a:r>
              <a:rPr lang="en-IN" sz="2000" b="1" dirty="0"/>
              <a:t>Use Cases: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Portrait sketching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Artistic photo transformations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Digital art creation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28C1-A81D-4A2F-B009-4D61F908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5714A6-14CE-0830-BE5C-D2F5013F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725" y="495300"/>
            <a:ext cx="7486650" cy="1076325"/>
          </a:xfrm>
        </p:spPr>
        <p:txBody>
          <a:bodyPr>
            <a:noAutofit/>
          </a:bodyPr>
          <a:lstStyle/>
          <a:p>
            <a:r>
              <a:rPr lang="en-US" sz="3600" b="1" dirty="0"/>
              <a:t>FEATURES – REALTIME WEBCAM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91CC15-DD18-3E9C-F58D-02637FED4FA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062162" y="1685925"/>
            <a:ext cx="8662988" cy="4676775"/>
          </a:xfrm>
        </p:spPr>
        <p:txBody>
          <a:bodyPr>
            <a:normAutofit/>
          </a:bodyPr>
          <a:lstStyle/>
          <a:p>
            <a:r>
              <a:rPr lang="en-IN" sz="2000" b="1" dirty="0"/>
              <a:t>Live Sketch Effect:</a:t>
            </a:r>
            <a:endParaRPr lang="en-IN" sz="2000" dirty="0"/>
          </a:p>
          <a:p>
            <a:r>
              <a:rPr lang="en-IN" sz="2000" dirty="0"/>
              <a:t>✓ Real-time video processing </a:t>
            </a:r>
          </a:p>
          <a:p>
            <a:r>
              <a:rPr lang="en-IN" sz="2000" dirty="0"/>
              <a:t>✓ Side-by-side original and sketch view </a:t>
            </a:r>
          </a:p>
          <a:p>
            <a:r>
              <a:rPr lang="en-IN" sz="2000" dirty="0"/>
              <a:t>✓ Interactive screenshot capture (Press 'S’) </a:t>
            </a:r>
          </a:p>
          <a:p>
            <a:r>
              <a:rPr lang="en-IN" sz="2000" dirty="0"/>
              <a:t>✓ Smooth frame processing </a:t>
            </a:r>
          </a:p>
          <a:p>
            <a:r>
              <a:rPr lang="en-IN" sz="2000" dirty="0"/>
              <a:t>✓ Easy exit option (Press 'Q’)</a:t>
            </a:r>
          </a:p>
          <a:p>
            <a:endParaRPr lang="en-IN" sz="2000" dirty="0"/>
          </a:p>
          <a:p>
            <a:r>
              <a:rPr lang="en-IN" sz="2000" b="1" dirty="0"/>
              <a:t>Applications: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Live demonstrations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Video conferencing filters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Interactive art installations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BA020-0A82-1505-8523-35471CD5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5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0" y="1123950"/>
            <a:ext cx="5655197" cy="934884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USER INTERFACE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740" y="2790826"/>
            <a:ext cx="6572251" cy="3032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Interactive Menu System: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Three main options:</a:t>
            </a:r>
          </a:p>
          <a:p>
            <a:r>
              <a:rPr lang="en-US" sz="2200" b="1" dirty="0"/>
              <a:t>Image to Pencil Sketch</a:t>
            </a:r>
            <a:r>
              <a:rPr lang="en-US" sz="2200" dirty="0"/>
              <a:t> - Convert static images</a:t>
            </a:r>
          </a:p>
          <a:p>
            <a:r>
              <a:rPr lang="en-US" sz="2200" b="1" dirty="0"/>
              <a:t>Image to Colored Sketch</a:t>
            </a:r>
            <a:r>
              <a:rPr lang="en-US" sz="2200" dirty="0"/>
              <a:t> - Create colored artwork</a:t>
            </a:r>
          </a:p>
          <a:p>
            <a:r>
              <a:rPr lang="en-US" sz="2200" b="1" dirty="0"/>
              <a:t>Webcam Pencil Sketch</a:t>
            </a:r>
            <a:r>
              <a:rPr lang="en-US" sz="2200" dirty="0"/>
              <a:t> - Real-time processing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72325" y="2790826"/>
            <a:ext cx="4924425" cy="2762250"/>
          </a:xfrm>
        </p:spPr>
        <p:txBody>
          <a:bodyPr>
            <a:normAutofit/>
          </a:bodyPr>
          <a:lstStyle/>
          <a:p>
            <a:r>
              <a:rPr lang="en-US" sz="2200" b="1" dirty="0"/>
              <a:t>User-Friendly Features:</a:t>
            </a:r>
            <a:endParaRPr lang="en-US" sz="2200" dirty="0"/>
          </a:p>
          <a:p>
            <a:r>
              <a:rPr lang="en-US" sz="2200" dirty="0"/>
              <a:t>Clear menu navigation</a:t>
            </a:r>
          </a:p>
          <a:p>
            <a:r>
              <a:rPr lang="en-US" sz="2200" dirty="0"/>
              <a:t>Input validation</a:t>
            </a:r>
          </a:p>
          <a:p>
            <a:r>
              <a:rPr lang="en-US" sz="2200" dirty="0"/>
              <a:t>Path handling (with quote removal)</a:t>
            </a:r>
          </a:p>
          <a:p>
            <a:r>
              <a:rPr lang="en-US" sz="2200" dirty="0"/>
              <a:t>Save prompts</a:t>
            </a:r>
          </a:p>
          <a:p>
            <a:r>
              <a:rPr lang="en-US" sz="2200" dirty="0"/>
              <a:t>Status messages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CODE ARCHITECTURE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B52AC-4C4D-4B11-1BBD-47A5C7882938}"/>
              </a:ext>
            </a:extLst>
          </p:cNvPr>
          <p:cNvSpPr txBox="1"/>
          <p:nvPr/>
        </p:nvSpPr>
        <p:spPr>
          <a:xfrm>
            <a:off x="1504950" y="2047875"/>
            <a:ext cx="5257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1: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pencil_sketch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grayscale sketch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image processing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output image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2: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pencil_sketch_colored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sketch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OpenCV's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pencilSketch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output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53CB2-8CC4-47B6-7C55-7716415141EF}"/>
              </a:ext>
            </a:extLst>
          </p:cNvPr>
          <p:cNvSpPr txBox="1"/>
          <p:nvPr/>
        </p:nvSpPr>
        <p:spPr>
          <a:xfrm>
            <a:off x="5953125" y="26764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3: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webcam_pencil_sketch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Frame-by-frame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controls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83E2-2DDB-DFC6-C658-C1039378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C957F84-33CD-D98A-EBB7-8BB33871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90" y="914400"/>
            <a:ext cx="6687235" cy="934884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TECHNICAL IMPLEMENTATION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71A7685-77F0-0DE0-48E5-3AC034A5B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440" y="2419351"/>
            <a:ext cx="6496735" cy="4095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Image Division Technique: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core formula creates the sketch effect:</a:t>
            </a:r>
          </a:p>
          <a:p>
            <a:pPr marL="0" indent="0">
              <a:buNone/>
            </a:pPr>
            <a:r>
              <a:rPr lang="en-US" sz="2000" dirty="0"/>
              <a:t>Sketch = (Gray Image / Inverted Blurred Image) × 256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Why it works:</a:t>
            </a:r>
            <a:endParaRPr lang="en-US" sz="2000" dirty="0"/>
          </a:p>
          <a:p>
            <a:r>
              <a:rPr lang="en-US" sz="2000" dirty="0"/>
              <a:t>Highlights edges and details</a:t>
            </a:r>
          </a:p>
          <a:p>
            <a:r>
              <a:rPr lang="en-US" sz="2000" dirty="0"/>
              <a:t>Simulates pencil strokes</a:t>
            </a:r>
          </a:p>
          <a:p>
            <a:r>
              <a:rPr lang="en-US" sz="2000" dirty="0"/>
              <a:t>Creates light/shadow contrast</a:t>
            </a:r>
          </a:p>
          <a:p>
            <a:r>
              <a:rPr lang="en-US" sz="2000" dirty="0"/>
              <a:t>Mimics hand-drawn appearance</a:t>
            </a:r>
          </a:p>
          <a:p>
            <a:endParaRPr lang="en-US" sz="2000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91C8452D-F3CE-7BBD-EC0F-15E419B052F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030135" y="2495551"/>
            <a:ext cx="4924425" cy="2085974"/>
          </a:xfrm>
        </p:spPr>
        <p:txBody>
          <a:bodyPr>
            <a:normAutofit/>
          </a:bodyPr>
          <a:lstStyle/>
          <a:p>
            <a:r>
              <a:rPr lang="en-US" sz="2000" b="1" dirty="0"/>
              <a:t>Gaussian Blur Purpose: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Smooths harsh transitions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Creates softer sketch lines</a:t>
            </a:r>
          </a:p>
        </p:txBody>
      </p:sp>
    </p:spTree>
    <p:extLst>
      <p:ext uri="{BB962C8B-B14F-4D97-AF65-F5344CB8AC3E}">
        <p14:creationId xmlns:p14="http://schemas.microsoft.com/office/powerpoint/2010/main" val="1645879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A847-4B6B-59B0-2155-774A5B30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81230FC-16F4-65FD-E6CC-98CA9201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INPUT/OUTPUT EXAMPLES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6544233-A27A-01BB-C60D-049EE5A6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2109C-97F2-A1E9-589D-2ACA35396F85}"/>
              </a:ext>
            </a:extLst>
          </p:cNvPr>
          <p:cNvSpPr txBox="1"/>
          <p:nvPr/>
        </p:nvSpPr>
        <p:spPr>
          <a:xfrm>
            <a:off x="1504949" y="2047875"/>
            <a:ext cx="64293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Input Requirements: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Any standard image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Clear, well-lit photographs work best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Portrait or landscape orientation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Minimum recommended: 640x480 resolution</a:t>
            </a:r>
          </a:p>
          <a:p>
            <a:endParaRPr lang="en-IN" sz="2400" dirty="0"/>
          </a:p>
          <a:p>
            <a:r>
              <a:rPr lang="en-IN" sz="2400" b="1" dirty="0"/>
              <a:t>Output Quality: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Same resolution as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Grayscale or </a:t>
            </a:r>
            <a:r>
              <a:rPr lang="en-IN" sz="2400" dirty="0" err="1"/>
              <a:t>colored</a:t>
            </a:r>
            <a:r>
              <a:rPr lang="en-IN" sz="2400" dirty="0"/>
              <a:t>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JPEG format (default)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Maintains aspect ratio</a:t>
            </a:r>
          </a:p>
        </p:txBody>
      </p:sp>
    </p:spTree>
    <p:extLst>
      <p:ext uri="{BB962C8B-B14F-4D97-AF65-F5344CB8AC3E}">
        <p14:creationId xmlns:p14="http://schemas.microsoft.com/office/powerpoint/2010/main" val="131251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380F-56D8-46A3-4E32-8312C743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2CE8-4B6D-B7F8-879F-030B1A15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675" y="1142999"/>
            <a:ext cx="3514725" cy="787721"/>
          </a:xfrm>
        </p:spPr>
        <p:txBody>
          <a:bodyPr>
            <a:normAutofit/>
          </a:bodyPr>
          <a:lstStyle/>
          <a:p>
            <a:r>
              <a:rPr lang="en-US" sz="3800" b="1" dirty="0"/>
              <a:t>ADVANTAGES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0D7176D-0D68-3E0C-76FB-E411E86D58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00448" y="2647949"/>
            <a:ext cx="7439651" cy="3441699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Benefits of the Application:</a:t>
            </a:r>
            <a:endParaRPr lang="en-IN" sz="2400" dirty="0"/>
          </a:p>
          <a:p>
            <a:r>
              <a:rPr lang="en-IN" sz="2400" dirty="0"/>
              <a:t>✓ </a:t>
            </a:r>
            <a:r>
              <a:rPr lang="en-IN" sz="2400" b="1" dirty="0"/>
              <a:t>Easy to Use</a:t>
            </a:r>
            <a:r>
              <a:rPr lang="en-IN" sz="2400" dirty="0"/>
              <a:t> - Simple menu-driven interface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Fast Processing</a:t>
            </a:r>
            <a:r>
              <a:rPr lang="en-IN" sz="2400" dirty="0"/>
              <a:t> - Efficient OpenCV algorithms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Versatile</a:t>
            </a:r>
            <a:r>
              <a:rPr lang="en-IN" sz="2400" dirty="0"/>
              <a:t> - Multiple sketch styles available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Real-time Capable</a:t>
            </a:r>
            <a:r>
              <a:rPr lang="en-IN" sz="2400" dirty="0"/>
              <a:t> - Live webcam processing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Free &amp; Open Source</a:t>
            </a:r>
            <a:r>
              <a:rPr lang="en-IN" sz="2400" dirty="0"/>
              <a:t> - Uses open-source libraries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Customizable</a:t>
            </a:r>
            <a:r>
              <a:rPr lang="en-IN" sz="2400" dirty="0"/>
              <a:t> - Adjustable parameters </a:t>
            </a:r>
          </a:p>
          <a:p>
            <a:r>
              <a:rPr lang="en-IN" sz="2400" dirty="0"/>
              <a:t>✓ </a:t>
            </a:r>
            <a:r>
              <a:rPr lang="en-IN" sz="2400" b="1" dirty="0"/>
              <a:t>No Internet Required</a:t>
            </a:r>
            <a:r>
              <a:rPr lang="en-IN" sz="2400" dirty="0"/>
              <a:t> - Works offline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F7AFE2-D2F8-DC8B-3773-56F99D32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6C37-5214-0258-D05B-A1B52377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83E5A791-56FC-5B3F-800D-EBCCA1C1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0" y="1123950"/>
            <a:ext cx="5655197" cy="934884"/>
          </a:xfrm>
        </p:spPr>
        <p:txBody>
          <a:bodyPr anchor="b">
            <a:normAutofit fontScale="90000"/>
          </a:bodyPr>
          <a:lstStyle/>
          <a:p>
            <a:r>
              <a:rPr lang="en-US" sz="3400" b="1" dirty="0"/>
              <a:t>LIMITATIONS &amp; FUTURE ENHANCEMENTS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B9D5805-89DC-F88C-4E15-DB5441190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5065" y="2534629"/>
            <a:ext cx="4867274" cy="3032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Current Limitations:</a:t>
            </a:r>
            <a:endParaRPr lang="en-US" sz="2200" dirty="0"/>
          </a:p>
          <a:p>
            <a:r>
              <a:rPr lang="en-US" sz="2200" dirty="0"/>
              <a:t>Limited to predefined parameters</a:t>
            </a:r>
          </a:p>
          <a:p>
            <a:r>
              <a:rPr lang="en-US" sz="2200" dirty="0"/>
              <a:t>No GUI (command-line only)</a:t>
            </a:r>
          </a:p>
          <a:p>
            <a:r>
              <a:rPr lang="en-US" sz="2200" dirty="0"/>
              <a:t>Single image processing at a time</a:t>
            </a:r>
          </a:p>
          <a:p>
            <a:r>
              <a:rPr lang="en-US" sz="2200" dirty="0"/>
              <a:t>Fixed blur kernel size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6976FBB8-3FE4-54AF-DA4C-4942A9452B2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3387" y="2466975"/>
            <a:ext cx="5543550" cy="3762375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Potential Improvements: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GUI using </a:t>
            </a:r>
            <a:r>
              <a:rPr lang="en-IN" sz="2400" dirty="0" err="1"/>
              <a:t>Tkinter</a:t>
            </a:r>
            <a:r>
              <a:rPr lang="en-IN" sz="2400" dirty="0"/>
              <a:t> or </a:t>
            </a:r>
            <a:r>
              <a:rPr lang="en-IN" sz="2400" dirty="0" err="1"/>
              <a:t>PyQt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Batch processing for multiple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Adjustable parameters via sliders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Additional artistic filters (oil painting, </a:t>
            </a:r>
            <a:r>
              <a:rPr lang="en-IN" sz="2400" dirty="0" err="1"/>
              <a:t>watercolor</a:t>
            </a:r>
            <a:r>
              <a:rPr lang="en-IN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Video file processing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Mobile app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AI-enhanced sketch generation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04354-FAFE-C276-FCC0-7DC53A5C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08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C02F-B0AC-3455-B708-77D47735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EB428D5-C76D-B91D-48F4-9D4562EA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APPLICATIONS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16E5B3-8BDC-3CE0-C214-A3429D43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D02DD-D6BE-BB93-CA5C-759D4072F429}"/>
              </a:ext>
            </a:extLst>
          </p:cNvPr>
          <p:cNvSpPr txBox="1"/>
          <p:nvPr/>
        </p:nvSpPr>
        <p:spPr>
          <a:xfrm>
            <a:off x="1504949" y="2047875"/>
            <a:ext cx="76200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Create artistic renditions of photos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Add creative effects to portraits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Teach image processing concepts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Social media filters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Pictures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Unique artistic avatars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Prepare images for print sketches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Quick sketch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mockups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design</a:t>
            </a:r>
          </a:p>
        </p:txBody>
      </p:sp>
    </p:spTree>
    <p:extLst>
      <p:ext uri="{BB962C8B-B14F-4D97-AF65-F5344CB8AC3E}">
        <p14:creationId xmlns:p14="http://schemas.microsoft.com/office/powerpoint/2010/main" val="3039669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7569-469F-69B0-1B3F-FCD9D7BD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94331-3571-921B-9DE5-F3A55FED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65" y="1038225"/>
            <a:ext cx="5315635" cy="934884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INSTALLATION &amp; SETUP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53B3326-63A0-BC06-AEEE-AECB58A4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0365" y="2457451"/>
            <a:ext cx="4801285" cy="4095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Prerequisites:</a:t>
            </a:r>
          </a:p>
          <a:p>
            <a:pPr marL="0" indent="0">
              <a:buNone/>
            </a:pPr>
            <a:r>
              <a:rPr lang="en-US" sz="2000" dirty="0"/>
              <a:t>pip install </a:t>
            </a:r>
            <a:r>
              <a:rPr lang="en-US" sz="2000" dirty="0" err="1"/>
              <a:t>opencv</a:t>
            </a:r>
            <a:r>
              <a:rPr lang="en-US" sz="2000" dirty="0"/>
              <a:t>-python </a:t>
            </a:r>
          </a:p>
          <a:p>
            <a:pPr marL="0" indent="0">
              <a:buNone/>
            </a:pPr>
            <a:r>
              <a:rPr lang="en-US" sz="2000" dirty="0"/>
              <a:t>pip install </a:t>
            </a:r>
            <a:r>
              <a:rPr lang="en-US" sz="2000" dirty="0" err="1"/>
              <a:t>numpy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Running the Program:</a:t>
            </a:r>
            <a:endParaRPr lang="en-US" sz="2000" dirty="0"/>
          </a:p>
          <a:p>
            <a:r>
              <a:rPr lang="en-US" sz="2000" dirty="0"/>
              <a:t>Install required libraries</a:t>
            </a:r>
          </a:p>
          <a:p>
            <a:r>
              <a:rPr lang="en-US" sz="2000" dirty="0"/>
              <a:t>Save the Python script</a:t>
            </a:r>
          </a:p>
          <a:p>
            <a:r>
              <a:rPr lang="en-US" sz="2000" dirty="0"/>
              <a:t>Run: </a:t>
            </a:r>
            <a:r>
              <a:rPr lang="en-US" dirty="0"/>
              <a:t>python pencil_sketch.py</a:t>
            </a:r>
            <a:endParaRPr lang="en-US" sz="2000" dirty="0"/>
          </a:p>
          <a:p>
            <a:r>
              <a:rPr lang="en-US" sz="2000" dirty="0"/>
              <a:t>Follow on-screen menu prompts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1E7BEB43-5F5D-8A06-2B7F-67487EE220A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20485" y="2543176"/>
            <a:ext cx="4924425" cy="2085974"/>
          </a:xfrm>
        </p:spPr>
        <p:txBody>
          <a:bodyPr>
            <a:normAutofit/>
          </a:bodyPr>
          <a:lstStyle/>
          <a:p>
            <a:r>
              <a:rPr lang="en-US" sz="2000" b="1" dirty="0"/>
              <a:t>System Requirements: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3.6 or higher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4GB RAM (minimum)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Webcam (for real-time feature)</a:t>
            </a:r>
          </a:p>
        </p:txBody>
      </p:sp>
    </p:spTree>
    <p:extLst>
      <p:ext uri="{BB962C8B-B14F-4D97-AF65-F5344CB8AC3E}">
        <p14:creationId xmlns:p14="http://schemas.microsoft.com/office/powerpoint/2010/main" val="2994029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A1A6-A1FF-C9EC-F0CE-FA87C9C3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7396413-B005-D1F6-811F-A7206F70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DEMO SCREENSHOTS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F30CF1-4C4B-C810-63F6-8FC91B4D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34585-A9D7-AB60-FCF2-91FB9282F158}"/>
              </a:ext>
            </a:extLst>
          </p:cNvPr>
          <p:cNvSpPr txBox="1"/>
          <p:nvPr/>
        </p:nvSpPr>
        <p:spPr>
          <a:xfrm>
            <a:off x="1504949" y="2047875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Original image vs. Pencil sketch comparison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37512-A641-AAB3-B4C8-52DB2D490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287" y="3314699"/>
            <a:ext cx="2128838" cy="2032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80CAC-74A1-655A-B2EC-79746358F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962" y="3314699"/>
            <a:ext cx="2128838" cy="20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63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66ADC-DBC9-0D82-6360-539FC7A4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47060C75-2BA4-4D41-4F68-3D8EDB8E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DEMO SCREENSHOTS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E797D7-234D-DBE4-7524-BBF2BA97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31968-225D-F58F-C403-24E47D5F8CBF}"/>
              </a:ext>
            </a:extLst>
          </p:cNvPr>
          <p:cNvSpPr txBox="1"/>
          <p:nvPr/>
        </p:nvSpPr>
        <p:spPr>
          <a:xfrm>
            <a:off x="1504949" y="2047875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Colored</a:t>
            </a:r>
            <a:r>
              <a:rPr lang="en-IN" sz="2400" dirty="0"/>
              <a:t> sketch output 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EF537D-249A-8759-FC24-8336F879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287" y="3314699"/>
            <a:ext cx="2128838" cy="20326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8BEF39-37B5-D2A3-8C6E-D3ED85CC5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187" y="3314698"/>
            <a:ext cx="2128838" cy="2032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3B5D30-5A76-4323-CEF0-60AA31FA9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314697"/>
            <a:ext cx="2128838" cy="20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20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68C3-6A26-4A32-3A66-9FBD2B43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E0E1F5A-0CC0-2FA1-6306-84ABE934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225" y="476250"/>
            <a:ext cx="5257800" cy="63136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DEMO SCREENSHOTS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10A93D-A566-E013-9BC8-35D39508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FCE0E-242F-7E18-5E80-966A8C19A8DF}"/>
              </a:ext>
            </a:extLst>
          </p:cNvPr>
          <p:cNvSpPr txBox="1"/>
          <p:nvPr/>
        </p:nvSpPr>
        <p:spPr>
          <a:xfrm>
            <a:off x="1504949" y="2047875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Webcam real-time processing screenshot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01F4F6-6BDD-75E6-A543-47E32E308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49" y="2817230"/>
            <a:ext cx="8448675" cy="32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9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30C41-2983-4BD5-56F5-50042B45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A88F-5A7E-3302-B3DB-701E1F9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5" y="628649"/>
            <a:ext cx="3514725" cy="787721"/>
          </a:xfrm>
        </p:spPr>
        <p:txBody>
          <a:bodyPr>
            <a:normAutofit/>
          </a:bodyPr>
          <a:lstStyle/>
          <a:p>
            <a:r>
              <a:rPr lang="en-US" sz="3800" b="1" dirty="0"/>
              <a:t>CONCLUSION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5149369-8518-64B1-851F-264B1A07294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24125" y="2152650"/>
            <a:ext cx="8982075" cy="4305299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Project Summary:</a:t>
            </a:r>
            <a:endParaRPr lang="en-IN" sz="2400" dirty="0"/>
          </a:p>
          <a:p>
            <a:r>
              <a:rPr lang="en-IN" sz="2400" dirty="0"/>
              <a:t>Successfully implemented a pencil sketch effect application using computer vision techniques. The project demonstrates practical applications of image processing algorithms and provides multiple interaction modes for users.</a:t>
            </a:r>
          </a:p>
          <a:p>
            <a:endParaRPr lang="en-IN" sz="2400" dirty="0"/>
          </a:p>
          <a:p>
            <a:r>
              <a:rPr lang="en-IN" sz="2400" b="1" dirty="0"/>
              <a:t>Key Achievements:</a:t>
            </a:r>
            <a:r>
              <a:rPr lang="en-IN" sz="2400" dirty="0"/>
              <a:t> </a:t>
            </a:r>
          </a:p>
          <a:p>
            <a:r>
              <a:rPr lang="en-IN" sz="2400" dirty="0"/>
              <a:t>✓ Three distinct processing modes </a:t>
            </a:r>
          </a:p>
          <a:p>
            <a:r>
              <a:rPr lang="en-IN" sz="2400" dirty="0"/>
              <a:t>✓ Real-time video capabilities </a:t>
            </a:r>
          </a:p>
          <a:p>
            <a:r>
              <a:rPr lang="en-IN" sz="2400" dirty="0"/>
              <a:t>✓ User-friendly interface </a:t>
            </a:r>
          </a:p>
          <a:p>
            <a:r>
              <a:rPr lang="en-IN" sz="2400" dirty="0"/>
              <a:t>✓ Efficient algorithm implementation </a:t>
            </a:r>
          </a:p>
          <a:p>
            <a:r>
              <a:rPr lang="en-IN" sz="2400" dirty="0"/>
              <a:t>✓ Flexible output options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223CD5-3F1F-2D1F-5A36-C39EC67B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456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EA3C-C4EB-C698-05A0-A8C089F7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62F0-D17C-0D06-1778-8A50E752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5" y="628649"/>
            <a:ext cx="3514725" cy="787721"/>
          </a:xfrm>
        </p:spPr>
        <p:txBody>
          <a:bodyPr>
            <a:normAutofit/>
          </a:bodyPr>
          <a:lstStyle/>
          <a:p>
            <a:r>
              <a:rPr lang="en-US" sz="3800" b="1" dirty="0"/>
              <a:t>REFERENCES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C2069537-C47F-90FC-864C-A3E175684F2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247901" y="2152650"/>
            <a:ext cx="4267200" cy="4305299"/>
          </a:xfrm>
        </p:spPr>
        <p:txBody>
          <a:bodyPr>
            <a:normAutofit/>
          </a:bodyPr>
          <a:lstStyle/>
          <a:p>
            <a:r>
              <a:rPr lang="en-IN" sz="2000" b="1" dirty="0"/>
              <a:t>Technologies &amp; Resources: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OpenCV Documentation: docs.opencv.org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NumPy Library: numpy.org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 Official Site: python.org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Image Processing Tutorials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Computer Vision Research Papers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97A652-636F-08C6-8C3B-2BF700FA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A1554-5FE9-C23E-8160-2173996338B2}"/>
              </a:ext>
            </a:extLst>
          </p:cNvPr>
          <p:cNvSpPr txBox="1"/>
          <p:nvPr/>
        </p:nvSpPr>
        <p:spPr>
          <a:xfrm>
            <a:off x="6929437" y="2085886"/>
            <a:ext cx="4600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Learning Resources:</a:t>
            </a:r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OpenCV Python Tutorials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Digital Image Processing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Computer Vision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4438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7300" y="2187236"/>
            <a:ext cx="4179570" cy="1524735"/>
          </a:xfrm>
        </p:spPr>
        <p:txBody>
          <a:bodyPr/>
          <a:lstStyle/>
          <a:p>
            <a:r>
              <a:rPr lang="en-US" sz="4600" b="1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89</TotalTime>
  <Words>1011</Words>
  <Application>Microsoft Office PowerPoint</Application>
  <PresentationFormat>Widescreen</PresentationFormat>
  <Paragraphs>243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Tenorite</vt:lpstr>
      <vt:lpstr>Times New Roman</vt:lpstr>
      <vt:lpstr>Custom</vt:lpstr>
      <vt:lpstr>PENCIL SKETCH EFFECT  Transforming Digital Images into                          Artistic Sketches  DONE by:                  BHARGOW N – E0322046                  RISHITHA T – E0322026</vt:lpstr>
      <vt:lpstr>PROJECT OVERVIEW</vt:lpstr>
      <vt:lpstr>TECHNOLOGIES USED</vt:lpstr>
      <vt:lpstr>CORE CONCEPTS</vt:lpstr>
      <vt:lpstr>ALGORITHM – GRAYSCALE SKETCH</vt:lpstr>
      <vt:lpstr>ALGORITHM – COLORED SKETCH</vt:lpstr>
      <vt:lpstr>FEATURES – IMAGE CONVERSION</vt:lpstr>
      <vt:lpstr>FEATURES – REALTIME WEBCAM</vt:lpstr>
      <vt:lpstr>USER INTERFACE</vt:lpstr>
      <vt:lpstr>CODE ARCHITECTURE</vt:lpstr>
      <vt:lpstr>TECHNICAL IMPLEMENTATION</vt:lpstr>
      <vt:lpstr>INPUT/OUTPUT EXAMPLES</vt:lpstr>
      <vt:lpstr>ADVANTAGES</vt:lpstr>
      <vt:lpstr>LIMITATIONS &amp; FUTURE ENHANCEMENTS</vt:lpstr>
      <vt:lpstr>APPLICATIONS</vt:lpstr>
      <vt:lpstr>INSTALLATION &amp; SETUP</vt:lpstr>
      <vt:lpstr>DEMO SCREENSHOTS</vt:lpstr>
      <vt:lpstr>DEMO SCREENSHOTS</vt:lpstr>
      <vt:lpstr>DEMO SCREENSHOTS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Bhargow</dc:creator>
  <cp:lastModifiedBy>N Bhargow</cp:lastModifiedBy>
  <cp:revision>4</cp:revision>
  <dcterms:created xsi:type="dcterms:W3CDTF">2025-10-20T07:35:44Z</dcterms:created>
  <dcterms:modified xsi:type="dcterms:W3CDTF">2025-10-21T06:12:08Z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